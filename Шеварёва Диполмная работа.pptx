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0" r:id="rId1"/>
  </p:sldMasterIdLst>
  <p:sldIdLst>
    <p:sldId id="257" r:id="rId2"/>
    <p:sldId id="259" r:id="rId3"/>
    <p:sldId id="260" r:id="rId4"/>
    <p:sldId id="261" r:id="rId5"/>
    <p:sldId id="262" r:id="rId6"/>
    <p:sldId id="264" r:id="rId7"/>
    <p:sldId id="265" r:id="rId8"/>
    <p:sldId id="276" r:id="rId9"/>
    <p:sldId id="278" r:id="rId10"/>
    <p:sldId id="277" r:id="rId11"/>
    <p:sldId id="279" r:id="rId12"/>
    <p:sldId id="269" r:id="rId13"/>
    <p:sldId id="280" r:id="rId14"/>
    <p:sldId id="281" r:id="rId15"/>
    <p:sldId id="284" r:id="rId16"/>
    <p:sldId id="283" r:id="rId17"/>
    <p:sldId id="285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3FD6F-134C-4308-BC0D-D40B1481CFF6}" type="datetimeFigureOut">
              <a:rPr lang="ru-RU" smtClean="0"/>
              <a:t>17.06.2025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3C92C-6719-4C24-A8DD-C9A712F470C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63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9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5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0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13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2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4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30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866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1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83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17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32880" y="30522"/>
            <a:ext cx="9126240" cy="19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1;p1"/>
          <p:cNvSpPr txBox="1"/>
          <p:nvPr/>
        </p:nvSpPr>
        <p:spPr>
          <a:xfrm>
            <a:off x="4361375" y="2597813"/>
            <a:ext cx="424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ДИПЛОМНАЯ РАБОТА</a:t>
            </a:r>
          </a:p>
        </p:txBody>
      </p:sp>
      <p:sp>
        <p:nvSpPr>
          <p:cNvPr id="12" name="Google Shape;92;p1"/>
          <p:cNvSpPr txBox="1"/>
          <p:nvPr/>
        </p:nvSpPr>
        <p:spPr>
          <a:xfrm>
            <a:off x="2579940" y="3625585"/>
            <a:ext cx="99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 тему:</a:t>
            </a:r>
          </a:p>
        </p:txBody>
      </p:sp>
      <p:sp>
        <p:nvSpPr>
          <p:cNvPr id="13" name="Google Shape;93;p1"/>
          <p:cNvSpPr txBox="1"/>
          <p:nvPr/>
        </p:nvSpPr>
        <p:spPr>
          <a:xfrm>
            <a:off x="2579942" y="3239797"/>
            <a:ext cx="84466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 специальности: </a:t>
            </a:r>
            <a:r>
              <a:rPr lang="ru-RU" sz="1800" u="sng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09.02.07 Информационные системы и программирование</a:t>
            </a:r>
          </a:p>
        </p:txBody>
      </p:sp>
      <p:sp>
        <p:nvSpPr>
          <p:cNvPr id="14" name="Google Shape;94;p1"/>
          <p:cNvSpPr txBox="1"/>
          <p:nvPr/>
        </p:nvSpPr>
        <p:spPr>
          <a:xfrm>
            <a:off x="3456483" y="3613842"/>
            <a:ext cx="669353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системы для мониторинга и контроля оборудования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Google Shape;95;p1"/>
          <p:cNvSpPr txBox="1"/>
          <p:nvPr/>
        </p:nvSpPr>
        <p:spPr>
          <a:xfrm>
            <a:off x="5098816" y="6390901"/>
            <a:ext cx="1448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Москва 2025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" name="Google Shape;85;p1">
            <a:extLst>
              <a:ext uri="{FF2B5EF4-FFF2-40B4-BE49-F238E27FC236}">
                <a16:creationId xmlns:a16="http://schemas.microsoft.com/office/drawing/2014/main" id="{C8569D86-0FB5-49D9-7D99-5E34BEFBD158}"/>
              </a:ext>
            </a:extLst>
          </p:cNvPr>
          <p:cNvSpPr txBox="1"/>
          <p:nvPr/>
        </p:nvSpPr>
        <p:spPr>
          <a:xfrm>
            <a:off x="1532880" y="4721318"/>
            <a:ext cx="17608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Студент группы</a:t>
            </a:r>
          </a:p>
        </p:txBody>
      </p:sp>
      <p:sp>
        <p:nvSpPr>
          <p:cNvPr id="23" name="Google Shape;86;p1">
            <a:extLst>
              <a:ext uri="{FF2B5EF4-FFF2-40B4-BE49-F238E27FC236}">
                <a16:creationId xmlns:a16="http://schemas.microsoft.com/office/drawing/2014/main" id="{CA1C7FC6-D7D0-FE0C-B5C0-A47B4FB66EFF}"/>
              </a:ext>
            </a:extLst>
          </p:cNvPr>
          <p:cNvSpPr txBox="1"/>
          <p:nvPr/>
        </p:nvSpPr>
        <p:spPr>
          <a:xfrm>
            <a:off x="5078235" y="4721318"/>
            <a:ext cx="1497526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4ИСП9-21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Google Shape;87;p1">
            <a:extLst>
              <a:ext uri="{FF2B5EF4-FFF2-40B4-BE49-F238E27FC236}">
                <a16:creationId xmlns:a16="http://schemas.microsoft.com/office/drawing/2014/main" id="{22EF743D-47B4-662D-792A-787298936B1F}"/>
              </a:ext>
            </a:extLst>
          </p:cNvPr>
          <p:cNvSpPr txBox="1"/>
          <p:nvPr/>
        </p:nvSpPr>
        <p:spPr>
          <a:xfrm>
            <a:off x="9055524" y="4721428"/>
            <a:ext cx="186436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ru-RU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Шеварёва</a:t>
            </a:r>
            <a:r>
              <a:rPr lang="ru-RU" alt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ru-RU" altLang="ru-RU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Д. С.</a:t>
            </a:r>
            <a:endParaRPr lang="ru-RU" altLang="ru-RU"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Google Shape;88;p1">
            <a:extLst>
              <a:ext uri="{FF2B5EF4-FFF2-40B4-BE49-F238E27FC236}">
                <a16:creationId xmlns:a16="http://schemas.microsoft.com/office/drawing/2014/main" id="{683F09AD-9E80-C788-64E3-724C1822F956}"/>
              </a:ext>
            </a:extLst>
          </p:cNvPr>
          <p:cNvSpPr txBox="1"/>
          <p:nvPr/>
        </p:nvSpPr>
        <p:spPr>
          <a:xfrm>
            <a:off x="1532880" y="5283384"/>
            <a:ext cx="15256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Руководитель</a:t>
            </a:r>
          </a:p>
        </p:txBody>
      </p:sp>
      <p:sp>
        <p:nvSpPr>
          <p:cNvPr id="26" name="Google Shape;89;p1">
            <a:extLst>
              <a:ext uri="{FF2B5EF4-FFF2-40B4-BE49-F238E27FC236}">
                <a16:creationId xmlns:a16="http://schemas.microsoft.com/office/drawing/2014/main" id="{52FD6F91-F572-D416-1D04-CD77F9E5BF16}"/>
              </a:ext>
            </a:extLst>
          </p:cNvPr>
          <p:cNvSpPr txBox="1"/>
          <p:nvPr/>
        </p:nvSpPr>
        <p:spPr>
          <a:xfrm>
            <a:off x="4382244" y="5283384"/>
            <a:ext cx="22978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преподаватель</a:t>
            </a:r>
          </a:p>
        </p:txBody>
      </p:sp>
      <p:sp>
        <p:nvSpPr>
          <p:cNvPr id="27" name="Google Shape;90;p1">
            <a:extLst>
              <a:ext uri="{FF2B5EF4-FFF2-40B4-BE49-F238E27FC236}">
                <a16:creationId xmlns:a16="http://schemas.microsoft.com/office/drawing/2014/main" id="{9F4D127A-2B81-0260-5A76-C0F271614396}"/>
              </a:ext>
            </a:extLst>
          </p:cNvPr>
          <p:cNvSpPr txBox="1"/>
          <p:nvPr/>
        </p:nvSpPr>
        <p:spPr>
          <a:xfrm>
            <a:off x="9055376" y="5283384"/>
            <a:ext cx="20719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Флюрце</a:t>
            </a:r>
            <a:r>
              <a:rPr lang="ru-RU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У. А.</a:t>
            </a:r>
            <a:endParaRPr lang="ru-RU"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C8E19-9244-6FF4-8454-890A83ABE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107" y="1068404"/>
            <a:ext cx="4337786" cy="678581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D64F9E-DD36-635E-ACD4-BDCEFEB6A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531" y="2186570"/>
            <a:ext cx="10160970" cy="46714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- разработка веб-приложения, предназначенного для автоматизации процессов мониторинга и контроля состояния оборудования в организации.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Поставленные задачи: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Анализ предметную область;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Обосновать выбор технологий;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Спроектировать архитектуру и БД;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Реализовать систему мониторинга;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Оценить результаты работы.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02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4DA5-C337-E4A3-CD4A-CE73698F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5D0114-FC5B-BF4B-379A-AA32FDBB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1948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отделе тестирования ранее учёт вёлся вручную, что вызывало трудности с актуальностью данных и отслеживанием истории. Разрабатываемое веб-приложение автоматизирует эти процессы, обеспечивая централизованный контроль и визуализацию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228597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26FCD-303E-9F1D-43A4-D480EBB9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ПРОДУКТОВ</a:t>
            </a:r>
          </a:p>
        </p:txBody>
      </p:sp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1E0BE7BD-DDD1-F44F-B194-C773F8DE59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0" t="3095" r="22811" b="-3095"/>
          <a:stretch/>
        </p:blipFill>
        <p:spPr bwMode="auto">
          <a:xfrm>
            <a:off x="181069" y="2785720"/>
            <a:ext cx="1647731" cy="206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icture background">
            <a:extLst>
              <a:ext uri="{FF2B5EF4-FFF2-40B4-BE49-F238E27FC236}">
                <a16:creationId xmlns:a16="http://schemas.microsoft.com/office/drawing/2014/main" id="{FFCA9D33-3AF2-107F-F00B-E130D3350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2849679"/>
            <a:ext cx="2861358" cy="1938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Picture background">
            <a:extLst>
              <a:ext uri="{FF2B5EF4-FFF2-40B4-BE49-F238E27FC236}">
                <a16:creationId xmlns:a16="http://schemas.microsoft.com/office/drawing/2014/main" id="{3A58CC08-5383-22B7-BBD1-7C3D4126B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4" t="16421" r="22710" b="20281"/>
          <a:stretch/>
        </p:blipFill>
        <p:spPr bwMode="auto">
          <a:xfrm>
            <a:off x="5055918" y="2849679"/>
            <a:ext cx="3003432" cy="1938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icture background">
            <a:extLst>
              <a:ext uri="{FF2B5EF4-FFF2-40B4-BE49-F238E27FC236}">
                <a16:creationId xmlns:a16="http://schemas.microsoft.com/office/drawing/2014/main" id="{D21DB674-17A0-8D20-48C6-3DB1DD66EF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6" t="40028" r="34481" b="37134"/>
          <a:stretch/>
        </p:blipFill>
        <p:spPr bwMode="auto">
          <a:xfrm>
            <a:off x="8315179" y="3009579"/>
            <a:ext cx="3695752" cy="136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49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512AF-11EB-8879-32CB-708816E7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ПРОГРАММНЫЕ СРЕДСТВА</a:t>
            </a:r>
            <a:endParaRPr lang="ru-RU" sz="4000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E9359865-EA90-C106-624E-27581926F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879" y="2797930"/>
            <a:ext cx="4394242" cy="247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70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60BDD-A71B-2DFF-E194-8ED3DE93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ВЕБ-ПРИЛОЖЕНИЯ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EBFDE6-2B74-37ED-631D-59811623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" t="1581" r="6559" b="16205"/>
          <a:stretch/>
        </p:blipFill>
        <p:spPr>
          <a:xfrm>
            <a:off x="6748455" y="3043698"/>
            <a:ext cx="4407226" cy="1883121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2A4B6B3B-7216-14E0-ABA4-24D6991A4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266" y="3410892"/>
            <a:ext cx="4196280" cy="1148732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10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13B85-619E-EC3D-5990-7BE39A4D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963" y="1050203"/>
            <a:ext cx="6752074" cy="696211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АВТОРИЗАЦИИ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DD5311-AED0-997B-83EE-DC1B61E16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1" t="14088" r="12859" b="12594"/>
          <a:stretch/>
        </p:blipFill>
        <p:spPr>
          <a:xfrm>
            <a:off x="2218774" y="2100404"/>
            <a:ext cx="7754452" cy="3811510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4141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C1582-6C0A-22BB-ECDC-452FF1AB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861" y="1004935"/>
            <a:ext cx="6058278" cy="723371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6806FD-D593-CCA4-6E8F-B3A4B5120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767" y="2142694"/>
            <a:ext cx="7685717" cy="3778272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922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D0666-2D5E-86E5-0730-43EC2446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 ДОБАВЛЕНИЯ ОБОРУДОВАНИЯ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6A6748-C5C6-B7D8-9C45-2CBF0E522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41" y="2924242"/>
            <a:ext cx="10231278" cy="1733792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8922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D0666-2D5E-86E5-0730-43EC2446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КАРТОЧКА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ОБОРУДОВАНИЯ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6E98FD-238A-DDE3-765B-CFD8A5BBA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577" y="2198153"/>
            <a:ext cx="1562846" cy="3804295"/>
          </a:xfrm>
          <a:prstGeom prst="rect">
            <a:avLst/>
          </a:prstGeom>
          <a:ln w="38100" cap="sq">
            <a:solidFill>
              <a:schemeClr val="bg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862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D0666-2D5E-86E5-0730-43EC2446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АРХИВА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D8B645-DFFA-5EE6-4827-5F4FFC2BF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357" b="15023"/>
          <a:stretch/>
        </p:blipFill>
        <p:spPr>
          <a:xfrm>
            <a:off x="2231721" y="2119389"/>
            <a:ext cx="7728557" cy="3756309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6807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C25D1-145D-1AB0-23DF-7D81AF63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ЖУРНАЛА ДЕЙСТВИЙ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C01EC9-5F0A-3CEF-324D-9F4F1A90E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6" t="6206" r="664" b="-124"/>
          <a:stretch/>
        </p:blipFill>
        <p:spPr>
          <a:xfrm>
            <a:off x="1893711" y="2073244"/>
            <a:ext cx="8404578" cy="3956362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4E3A8B-1C11-A7F8-6A7D-15DA853E8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967" y="2344848"/>
            <a:ext cx="2522715" cy="813996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269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C25D1-145D-1AB0-23DF-7D81AF63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790" y="277550"/>
            <a:ext cx="9350419" cy="145075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ПОИСКА 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USB-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9F719C-3BA4-FB00-B2B6-4750CB9E0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02" b="6760"/>
          <a:stretch/>
        </p:blipFill>
        <p:spPr>
          <a:xfrm>
            <a:off x="1921003" y="2056494"/>
            <a:ext cx="8349993" cy="3936899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889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C25D1-145D-1AB0-23DF-7D81AF63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С ИНФОРМАЦИЕЙ ОБ ОБОРУДОВАНИИ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7D763E-8D25-D6F4-2B3A-D74F4694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482"/>
          <a:stretch/>
        </p:blipFill>
        <p:spPr>
          <a:xfrm>
            <a:off x="1097280" y="2916724"/>
            <a:ext cx="6404848" cy="3097250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87129C-2020-F568-C65C-3D1B4EB5E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884" y="2023391"/>
            <a:ext cx="6293664" cy="3097250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6784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C25D1-145D-1AB0-23DF-7D81AF63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С ИНФОРМАЦИЕЙ ОБ ОБОРУДОВАНИИ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5FFC3B-0ABC-4116-AA15-F982874AC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73" b="255"/>
          <a:stretch/>
        </p:blipFill>
        <p:spPr>
          <a:xfrm>
            <a:off x="1242135" y="2202844"/>
            <a:ext cx="6057573" cy="2995520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DCB0D48-34A4-A29D-601C-54E88A7A8B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4" b="-589"/>
          <a:stretch/>
        </p:blipFill>
        <p:spPr>
          <a:xfrm>
            <a:off x="5397977" y="3250108"/>
            <a:ext cx="5757703" cy="2833820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3640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C25D1-145D-1AB0-23DF-7D81AF63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790" y="277550"/>
            <a:ext cx="9350419" cy="145075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ПЛАН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A1E6BA-BEFB-3468-A21E-91781709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3"/>
          <a:stretch/>
        </p:blipFill>
        <p:spPr>
          <a:xfrm>
            <a:off x="1352136" y="2074699"/>
            <a:ext cx="9487727" cy="3891535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8B58B1-C854-F6F8-7B0B-BD5D238A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09" r="5520"/>
          <a:stretch/>
        </p:blipFill>
        <p:spPr>
          <a:xfrm>
            <a:off x="9975257" y="2562997"/>
            <a:ext cx="1729212" cy="1529170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8134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C25D1-145D-1AB0-23DF-7D81AF63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790" y="277550"/>
            <a:ext cx="9350419" cy="145075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ПЛАН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AC6588-F40B-036B-D976-2F80218D2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149" y="1933357"/>
            <a:ext cx="2472578" cy="4259214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BD558C-6983-39EA-1277-5280AB2E2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754" y="2731602"/>
            <a:ext cx="2332197" cy="2742039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7722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9092E-42D3-5C60-3C73-BCE3E049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401" y="2972739"/>
            <a:ext cx="6341198" cy="662781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3" name="Прямоугольник: скругленные противолежащие углы 2">
            <a:extLst>
              <a:ext uri="{FF2B5EF4-FFF2-40B4-BE49-F238E27FC236}">
                <a16:creationId xmlns:a16="http://schemas.microsoft.com/office/drawing/2014/main" id="{3E06000E-FB70-4ABC-B3CF-921E00BCE75D}"/>
              </a:ext>
            </a:extLst>
          </p:cNvPr>
          <p:cNvSpPr/>
          <p:nvPr/>
        </p:nvSpPr>
        <p:spPr>
          <a:xfrm>
            <a:off x="838200" y="1276539"/>
            <a:ext cx="10876984" cy="787651"/>
          </a:xfrm>
          <a:prstGeom prst="round2Diag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48505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307</TotalTime>
  <Words>166</Words>
  <Application>Microsoft Office PowerPoint</Application>
  <PresentationFormat>Широкоэкранный</PresentationFormat>
  <Paragraphs>38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Ретро</vt:lpstr>
      <vt:lpstr>Презентация PowerPoint</vt:lpstr>
      <vt:lpstr>ЦЕЛИ И ЗАДАЧИ</vt:lpstr>
      <vt:lpstr>АНАЛИЗ ПРЕДМЕТНОЙ ОБЛАСТИ</vt:lpstr>
      <vt:lpstr>АНАЛИЗ СУЩЕСТВУЮЩИХ ПРОДУКТОВ</vt:lpstr>
      <vt:lpstr>ПРОГРАММНЫЕ СРЕДСТВА</vt:lpstr>
      <vt:lpstr>ЛОГИКА ВЕБ-ПРИЛОЖЕНИЯ</vt:lpstr>
      <vt:lpstr>СТРАНИЦА АВТОРИЗАЦИИ</vt:lpstr>
      <vt:lpstr>ГЛАВНАЯ СТРАНИЦА</vt:lpstr>
      <vt:lpstr>ФОРМА ДОБАВЛЕНИЯ ОБОРУДОВАНИЯ</vt:lpstr>
      <vt:lpstr>КАРТОЧКА ОБОРУДОВАНИЯ</vt:lpstr>
      <vt:lpstr>СТРАНИЦА АРХИВА</vt:lpstr>
      <vt:lpstr>СТРАНИЦА ЖУРНАЛА ДЕЙСТВИЙ</vt:lpstr>
      <vt:lpstr>СТРАНИЦА ПОИСКА USB-УСТРОЙСТВ</vt:lpstr>
      <vt:lpstr>СТРАНИЦА С ИНФОРМАЦИЕЙ ОБ ОБОРУДОВАНИИ</vt:lpstr>
      <vt:lpstr>СТРАНИЦА С ИНФОРМАЦИЕЙ ОБ ОБОРУДОВАНИИ</vt:lpstr>
      <vt:lpstr>ГРАФИЧЕСКИЙ ПЛАН</vt:lpstr>
      <vt:lpstr>ГРАФИЧЕСКИЙ ПЛАН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nicita.tchadov@mail.ru</dc:creator>
  <cp:lastModifiedBy>Cat Tyan</cp:lastModifiedBy>
  <cp:revision>4</cp:revision>
  <dcterms:created xsi:type="dcterms:W3CDTF">2025-06-15T20:23:07Z</dcterms:created>
  <dcterms:modified xsi:type="dcterms:W3CDTF">2025-06-17T19:38:35Z</dcterms:modified>
</cp:coreProperties>
</file>